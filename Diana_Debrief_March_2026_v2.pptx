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A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Programme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246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Debrief for Diana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3794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Azmain  |  March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Moody's Analytics  |  Insurance Solutions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8288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0" y="1188720"/>
            <a:ext cx="18288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188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560320" y="16642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18288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188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63440" y="16642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66560" y="1188720"/>
            <a:ext cx="18288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188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66560" y="16642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40233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286000"/>
            <a:ext cx="54864" cy="22860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3591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Mission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2633472"/>
            <a:ext cx="3657600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AI adoption across Customer Success through practical tools, training, and prototyping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workstreams: enablement (WS1), core tooling (WS2), intelligent agents (WS3-WS4), automation (WS5), rapid innovation (WS6)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into Natalia Orzechowska's organisation across multiple Insurance division teams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Diya Sawhny is executive sponsor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286000"/>
            <a:ext cx="40233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286000"/>
            <a:ext cx="54864" cy="2286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3591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&amp; Challenges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26680" y="2359152"/>
            <a:ext cx="822960" cy="228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7726680" y="23591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0" y="2633472"/>
            <a:ext cx="3657600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 adoption and data quality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 Five demo for May exceedance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Gainsight integration (hard launch March 30)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one-way read via App Factory MCP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Cross-OU expansion (Banking, Life, AM interested)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concentration risk (Azmain, BenVH, Richard)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 costs on pace for $10K/month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8188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Gen AI Programme  |  Confidential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772400" y="48188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Landscape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Projects at a Glance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57276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64208" y="1371600"/>
            <a:ext cx="164592" cy="16459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533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IRP Adoption Tracker — the primary tool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084832" y="1280160"/>
            <a:ext cx="157276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371600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2176272" y="13533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76272" y="1600200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76272" y="224028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upskilling &amp; prompt engineering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803904" y="1280160"/>
            <a:ext cx="157276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02352" y="1371600"/>
            <a:ext cx="164592" cy="16459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3895344" y="13533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895344" y="1600200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Agent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95344" y="224028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AI Agent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522976" y="1280160"/>
            <a:ext cx="157276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21424" y="1371600"/>
            <a:ext cx="164592" cy="16459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5614416" y="13533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614416" y="1600200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14416" y="224028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PM app (Diana-sponsored)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242048" y="1280160"/>
            <a:ext cx="157276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540496" y="1371600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7333488" y="13533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333488" y="1600200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 L1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33488" y="224028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support ticket automation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108960"/>
            <a:ext cx="157276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664208" y="3200400"/>
            <a:ext cx="164592" cy="16459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1821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WS6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7200" y="3429000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 Five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06908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AI prototyping (Martin)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084832" y="3108960"/>
            <a:ext cx="157276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383280" y="3200400"/>
            <a:ext cx="164592" cy="164592"/>
          </a:xfrm>
          <a:prstGeom prst="ellipse">
            <a:avLst/>
          </a:prstGeom>
          <a:solidFill>
            <a:srgbClr val="00A3E0"/>
          </a:solidFill>
          <a:ln/>
        </p:spPr>
      </p:sp>
      <p:sp>
        <p:nvSpPr>
          <p:cNvPr id="37" name="Text 35"/>
          <p:cNvSpPr/>
          <p:nvPr/>
        </p:nvSpPr>
        <p:spPr>
          <a:xfrm>
            <a:off x="2176272" y="3429000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OU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176272" y="406908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Banking, AM, Life Insurance outreach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803904" y="3108960"/>
            <a:ext cx="157276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102352" y="3200400"/>
            <a:ext cx="164592" cy="164592"/>
          </a:xfrm>
          <a:prstGeom prst="ellipse">
            <a:avLst/>
          </a:prstGeom>
          <a:solidFill>
            <a:srgbClr val="00A3E0"/>
          </a:solidFill>
          <a:ln/>
        </p:spPr>
      </p:sp>
      <p:sp>
        <p:nvSpPr>
          <p:cNvPr id="41" name="Text 39"/>
          <p:cNvSpPr/>
          <p:nvPr/>
        </p:nvSpPr>
        <p:spPr>
          <a:xfrm>
            <a:off x="3895344" y="3429000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895344" y="406908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steering, portfolio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522976" y="3108960"/>
            <a:ext cx="157276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821424" y="3200400"/>
            <a:ext cx="164592" cy="16459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5" name="Text 43"/>
          <p:cNvSpPr/>
          <p:nvPr/>
        </p:nvSpPr>
        <p:spPr>
          <a:xfrm>
            <a:off x="5614416" y="3429000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614416" y="406908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bond TSR automation (Idris)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242048" y="3108960"/>
            <a:ext cx="157276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540496" y="3200400"/>
            <a:ext cx="164592" cy="16459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9" name="Text 47"/>
          <p:cNvSpPr/>
          <p:nvPr/>
        </p:nvSpPr>
        <p:spPr>
          <a:xfrm>
            <a:off x="7333488" y="3429000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Factory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333488" y="406908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BenVH's MCP server platform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52" name="Text 50"/>
          <p:cNvSpPr/>
          <p:nvPr/>
        </p:nvSpPr>
        <p:spPr>
          <a:xfrm>
            <a:off x="457200" y="48188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Gen AI Programme  |  Confidential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772400" y="48188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WS2  |  IRP Adoption Tracker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0" y="228600"/>
            <a:ext cx="1554480" cy="3657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0" y="228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406908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88720"/>
            <a:ext cx="54864" cy="196596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2618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1261872"/>
            <a:ext cx="822960" cy="228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2618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1536192"/>
            <a:ext cx="3703320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 tracks IRP adoption across customer success teams — the central tool CSMs use in weekly Portfolio Reviews facilitated by Natalia Orzechowska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scorecard migration accounts are the priority dataset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AWS with CI/CD pipeline, RBAC, and two-week structured release cycle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 (50%) and Chris recently onboarded — Chris on bugs, Nikhil on scorecard tab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188720"/>
            <a:ext cx="41605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188720"/>
            <a:ext cx="54864" cy="19659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26187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&amp; Next Steps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18120" y="1261872"/>
            <a:ext cx="822960" cy="2286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7818120" y="12618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00600" y="1536192"/>
            <a:ext cx="3794760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Gainsight integration alignment (hard launch March 30)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one-way read — Cases + Case Feed via App Factory MCP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tab and migration burndown completion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Voice and HD model data integration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8412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291840"/>
            <a:ext cx="54864" cy="1325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36499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818120" y="3364992"/>
            <a:ext cx="822960" cy="228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7818120" y="33649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639312"/>
            <a:ext cx="804672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(not features) is the primary adoption challenge — CSMs still need hand-holding after four weeks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Azmain is single point of failure for features; BenVH is single point of failure for deployment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creep from multiple new integration requirements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8188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Gen AI Programme  |  Confidential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772400" y="48188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 Five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WS6  |  Rapid AI Prototyping (Martin)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0" y="228600"/>
            <a:ext cx="1554480" cy="3657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0" y="228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406908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88720"/>
            <a:ext cx="54864" cy="196596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2618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1261872"/>
            <a:ext cx="822960" cy="2286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2618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1536192"/>
            <a:ext cx="3703320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for building demo apps on IRP's Risk Data Lake using Cursor during customer conversations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 built a near-complete dashboard builder that exceeded all expectations — drag-drop UI with data, visual, and AI modes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white-labelling: themes, dark mode, logos, branding, corner radius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Risk Modeller API connection already working — compared to Databricks Genie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188720"/>
            <a:ext cx="41605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188720"/>
            <a:ext cx="54864" cy="19659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26187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&amp; Next Steps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18120" y="1261872"/>
            <a:ext cx="822960" cy="2286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7818120" y="12618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00600" y="1536192"/>
            <a:ext cx="3794760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up Navigator MCP server — completes the live demo loop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cascade: tech consulting, then demo team, then sales, then exceedance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May exceedance event (content due April)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Three-pronged convergence: Martin's dashboard + Nikhil's MCP + Elliot's profiling agent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8412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291840"/>
            <a:ext cx="54864" cy="1325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36499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818120" y="3364992"/>
            <a:ext cx="822960" cy="228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7818120" y="33649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639312"/>
            <a:ext cx="804672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Martin's 12-week assignment is time-limited — clock is ticking but output justifies investment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positioning unresolved: Moody's product feature vs customer self-service tool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 using MCP for underwriting — elevates this from demo tool to strategic engagement vehicle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8188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Gen AI Programme  |  Confidential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772400" y="48188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Factory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BenVH's MCP Server Platform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0" y="228600"/>
            <a:ext cx="1554480" cy="3657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0" y="228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406908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88720"/>
            <a:ext cx="54864" cy="196596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2618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1261872"/>
            <a:ext cx="822960" cy="2286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2618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1536192"/>
            <a:ext cx="3703320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BenVH pivoting core to an MCP server — middleware that any app (CLARA, Slidey, Build in Five) can consume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request an LLM worker, App Factory spins it up and returns the connection — apps stay simple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BenVH's patented Phantom Agent for enterprise AI governance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Asia-Pac interest (Singapore, Japan, Australia) adds validation and urgency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188720"/>
            <a:ext cx="41605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188720"/>
            <a:ext cx="54864" cy="19659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26187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&amp; Next Steps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18120" y="1261872"/>
            <a:ext cx="822960" cy="2286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7818120" y="12618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00600" y="1536192"/>
            <a:ext cx="3794760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completion (targeting end of this week)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Martin's Build in Five as first integration proof of concept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 showcase with senior stakeholders and ISLTR in London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Inter-app communication: CLARA to Slidey via App Factory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8412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291840"/>
            <a:ext cx="54864" cy="1325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36499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818120" y="3364992"/>
            <a:ext cx="82296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7818120" y="33649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639312"/>
            <a:ext cx="804672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BenVH is overloaded — MCP server, Slidey auth, Juliet's setup, Martin integration, all deployment duties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BenVH is the only deployer — acute burnout risk and single point of failure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tested rollback procedure; schema changes have caused production breakage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8188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Gen AI Programme  |  Confidential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772400" y="48188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WS4  |  Internal PM App (Diana-sponsored)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0" y="228600"/>
            <a:ext cx="1554480" cy="365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0" y="228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406908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88720"/>
            <a:ext cx="54864" cy="196596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2618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1261872"/>
            <a:ext cx="822960" cy="2286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2618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1536192"/>
            <a:ext cx="3703320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PM app like Monday.com, built by Azmain using 30 concurrent AI agents in one day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Kanban, list/timeline views, milestones, budgeting, decision tracking, stakeholder heat maps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IRP projects sync bidirectionally with CLARA; non-IRP projects live only in Friday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 endorsed it to replace slide-based Wednesday advisory project review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188720"/>
            <a:ext cx="41605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188720"/>
            <a:ext cx="54864" cy="19659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26187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&amp; Next Steps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18120" y="1261872"/>
            <a:ext cx="822960" cy="2286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7818120" y="12618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00600" y="1536192"/>
            <a:ext cx="3794760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 presenting Friday vision to Ben Brooks and Charlotte for formal approval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dev (BenVH) without auth for a four-week pilot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with Diana's Excel file as initial data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Prashant allocated to help with development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8412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291840"/>
            <a:ext cx="54864" cy="1325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36499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818120" y="3364992"/>
            <a:ext cx="822960" cy="228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7818120" y="33649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639312"/>
            <a:ext cx="804672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to Azmain's already-stretched bandwidth across CLARA + five other workstreams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budget or sanctioning yet — unclear if skunkworks or official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concern: Azmain burned $500 Cursor budget in one day building it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8188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Gen AI Programme  |  Confidential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772400" y="48188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Enablement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WS1  |  AI Upskilling Across Teams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0" y="228600"/>
            <a:ext cx="155448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0" y="228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406908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88720"/>
            <a:ext cx="54864" cy="196596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2618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1261872"/>
            <a:ext cx="82296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2618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1536192"/>
            <a:ext cx="3703320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framework exists: solution-focused training buckets, competency assessment, train-the-trainer approach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execution — CLARA consumed all of Azmain's bandwidth since January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training session (Dec 2025): 40 attendees from 80 registered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Cross-OU enablement sessions delivered to Banking and Life (10 March)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188720"/>
            <a:ext cx="41605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188720"/>
            <a:ext cx="54864" cy="19659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26187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&amp; Next Steps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18120" y="1261872"/>
            <a:ext cx="822960" cy="228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7818120" y="12618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00600" y="1536192"/>
            <a:ext cx="3794760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grads arriving April 7 may provide execution capacity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an owner other than Azmain — or his workload must be redistributed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insurance team's ROI approach and approval framework cross-OU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8412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291840"/>
            <a:ext cx="54864" cy="1325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36499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818120" y="3364992"/>
            <a:ext cx="82296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7818120" y="33649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639312"/>
            <a:ext cx="804672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Remains stalled unless someone other than Azmain is allocated to execute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is ready — resourcing is the sole blocker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Azmain flagged to Natalia O. as the biggest/quickest win but no time allocated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8188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Gen AI Programme  |  Confidential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772400" y="48188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Agent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WS3  |  AI-Powered Customer Engagement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0" y="228600"/>
            <a:ext cx="155448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0" y="228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406908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88720"/>
            <a:ext cx="54864" cy="196596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2618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1261872"/>
            <a:ext cx="82296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2618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1536192"/>
            <a:ext cx="3703320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to support customer success interactions — augment CSM capabilities with AI-driven insights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Pern built a Copilot Studio + Salesforce prototype independently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programme oversight or operational integration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Bernard (Life) built a separate Copilot health dashboard — parallel effort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188720"/>
            <a:ext cx="41605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188720"/>
            <a:ext cx="54864" cy="19659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26187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&amp; Next Steps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18120" y="1261872"/>
            <a:ext cx="822960" cy="228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7818120" y="12618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00600" y="1536192"/>
            <a:ext cx="3794760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check-in with Kevin to assess what exists and what's needed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alignment with Salesforce Cases integration (Kevin is one of four consumers)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whether this converges with the broader Salesforce/App Factory strategy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8412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291840"/>
            <a:ext cx="54864" cy="1325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36499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818120" y="3364992"/>
            <a:ext cx="82296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7818120" y="33649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639312"/>
            <a:ext cx="804672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in isolation with no programme coordination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duplicate effort across Kevin's work, Bernard's dashboard, and the Salesforce integration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Azmain told Natalia O. this workstream needs engagement — no action taken yet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8188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Gen AI Programme  |  Confidential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772400" y="48188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 L1 Automation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WS5  |  Support Ticket Automation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0" y="228600"/>
            <a:ext cx="1554480" cy="365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0" y="228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STAGE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406908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88720"/>
            <a:ext cx="54864" cy="196596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2618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1261872"/>
            <a:ext cx="822960" cy="228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2618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1536192"/>
            <a:ext cx="3703320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Concept: use Navigator's upcoming API support to auto-answer L1 support tickets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discussion held with product team (Cihan, Lonny) in February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CS-side build started yet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 MCP server is now Build in Five's top integration priority — potential synergy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188720"/>
            <a:ext cx="41605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188720"/>
            <a:ext cx="54864" cy="19659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26187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&amp; Next Steps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18120" y="1261872"/>
            <a:ext cx="822960" cy="228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7818120" y="12618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00600" y="1536192"/>
            <a:ext cx="3794760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on what CS needs to build vs what the product team delivers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integration with Martin's dashboard builder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CS requirements for L1 automation use cases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8412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291840"/>
            <a:ext cx="54864" cy="1325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36499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818120" y="3364992"/>
            <a:ext cx="822960" cy="228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7818120" y="33649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639312"/>
            <a:ext cx="804672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clarity of all workstreams — needs scoping before any resource commitment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Azmain admitted he doesn't fully understand the scope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existing ticketing systems requires coordination with product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8188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Gen AI Programme  |  Confidential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772400" y="48188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Cross-OU Collaboration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the Programme Across Moody's Divisions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0" y="228600"/>
            <a:ext cx="1554480" cy="36576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0" y="228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406908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88720"/>
            <a:ext cx="54864" cy="196596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2618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1261872"/>
            <a:ext cx="822960" cy="2286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2618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1536192"/>
            <a:ext cx="3703320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(Gina Greer, Olivier) and Life (Jack Cheyne, Christian Curran) both engaged via Diya-requested sessions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teams at the same stage insurance was in Nov 2025: siloed initiatives, no dedicated resources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Idrees Deen (banking) formally onboarded as first non-core team member — building retention dashboard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/ flat-pack CLARA approach proposed for cross-OU reuse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188720"/>
            <a:ext cx="41605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188720"/>
            <a:ext cx="54864" cy="19659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26187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&amp; Next Steps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18120" y="1261872"/>
            <a:ext cx="822960" cy="2286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7818120" y="12618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00600" y="1536192"/>
            <a:ext cx="3794760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 showcase meeting with ISLTR in London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ROI framework and approval approach cross-OU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resource model for cross-OU support (currently unfunded)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8412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291840"/>
            <a:ext cx="54864" cy="1325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36499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818120" y="3364992"/>
            <a:ext cx="822960" cy="228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7818120" y="33649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639312"/>
            <a:ext cx="804672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team adds demand on BenVH (only deployer) and Azmain — expansion is unfunded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OU has different tools, processes, and maturity levels — one size won't fit all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trust and demonstrating value before asking for commitment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8188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Gen AI Programme  |  Confidential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772400" y="48188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Management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Steering &amp; Portfolio Reviews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0" y="228600"/>
            <a:ext cx="1554480" cy="36576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0" y="228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406908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88720"/>
            <a:ext cx="54864" cy="196596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2618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1261872"/>
            <a:ext cx="822960" cy="228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2618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1536192"/>
            <a:ext cx="3703320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Diya endorsed three-pillar structure: IRP governance, customer intelligence, platform enablement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Catherine emerged as a governance ally — volunteered for App Factory intake decision tree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Gainsight integration meeting set up with Tina Palumbo, Nadim, Rajesh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decisions logged, 44 risks tracked — meeting intelligence tracked systematically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188720"/>
            <a:ext cx="41605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188720"/>
            <a:ext cx="54864" cy="19659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26187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&amp; Next Steps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18120" y="1261872"/>
            <a:ext cx="822960" cy="228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7818120" y="12618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00600" y="1536192"/>
            <a:ext cx="3794760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Post-twelve-week business case still needs building (clock ticking)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Factory governance approval board to be established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documentation of contributions and credit attribution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Diana into the governance structure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8412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291840"/>
            <a:ext cx="54864" cy="1325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36499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818120" y="3364992"/>
            <a:ext cx="822960" cy="228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7818120" y="33649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639312"/>
            <a:ext cx="804672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has scaled ambition without scaling governance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Post-twelve-week business case is unaddressed — Diya asked for outcomes and continuation plan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effectiveness varies — some meetings lack clear follow-through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8188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Gen AI Programme  |  Confidential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772400" y="48188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TSR Enhancements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Bond TSR Automation (Idris Abram)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0" y="228600"/>
            <a:ext cx="1554480" cy="365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0" y="228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406908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88720"/>
            <a:ext cx="54864" cy="196596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2618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1261872"/>
            <a:ext cx="822960" cy="2286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2618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1536192"/>
            <a:ext cx="3703320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Idris Abram formally onboarded with Ben Brooks's approval for dedicated time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automating TSR processes for cat bonds — first project outside core insurance CS team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test of the programme's enablement model: take someone from another team, provide tooling, produce output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Idris has strong domain knowledge of cat bonds and TSRs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188720"/>
            <a:ext cx="41605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188720"/>
            <a:ext cx="54864" cy="19659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26187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&amp; Next Steps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18120" y="1261872"/>
            <a:ext cx="822960" cy="2286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7818120" y="12618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00600" y="1536192"/>
            <a:ext cx="3794760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formal project scope and plan with Azmain's support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politics with Arno (Idris's current line manager)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TSR automation as a reference implementation for enablement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8412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291840"/>
            <a:ext cx="54864" cy="1325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36499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818120" y="3364992"/>
            <a:ext cx="822960" cy="228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7818120" y="33649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639312"/>
            <a:ext cx="804672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coordination overhead for Azmain — cat bond domain is new to the team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demonstrate value quickly to justify Idris's reallocation of time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with Navigator L1 work requires careful delineation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8188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Gen AI Programme  |  Confidential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772400" y="48188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3A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Programme Reference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Stakeholders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47548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Richard Dosoo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 / Operational Owner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bridge between vision and execution. Manages Diya relationship. Flight risk (interviewing NYC).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Azmain Hossain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 &amp; CLARA Developer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Builds everything. Reports to Diana. Stretched across CLARA, Friday, and 5 other workstreams.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 Brooks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Owner (de facto)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CLARA v1. Pushes for speed. Shopping CLARA cross-OU. Exceedance panel planning.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BenVH (Van Houten)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&amp; Deployment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person who can deploy. App Factory architect. Owns patented Phantom Agent. Burnout risk.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Natalia Orzechowska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Director / CS Lead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Portfolio Reviews. Practical, process-focused. Your skip-level manager.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Natalia Plant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Gainsight Team Lead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the Gainsight team. Key contact for Gainsight integration.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Martin Davies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in Five Developer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12-week assignment. Output exceeds all expectations. Dashboard builder compared to Databricks Genie.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Nikhil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Consulting (50/50)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API working. Being redirected from App Factory due to interpersonal conflict with BenVH.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Chris 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(CLARA)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Methodical, adapting well. Bug fixes. Next assignment: Salesforce integration.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Idrees Deen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Banking CS / Cross-OU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Cross-OU coalition builder. Retention dashboard. Strategic thinker, strong banking ally.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Idris Abram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TSR Enhancements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expansion outside core team. Cat bond / TSR automation. Ben Brooks approved dedicated time.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Catherine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&amp; Gainsight Governance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Strongest new ally. Volunteered for App Factory governance. Full advocate conversion.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Diya Sawhny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 Sponsor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Impatient with detail. Wants elevator pitches. Engagement improved after Feb governance session.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6177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stakeholder map includes 40+ individuals across multiple teams and tiers.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8188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Gen AI Programme  | 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772400" y="48188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554480" y="1243584"/>
            <a:ext cx="128016" cy="128016"/>
          </a:xfrm>
          <a:prstGeom prst="ellipse">
            <a:avLst/>
          </a:prstGeom>
          <a:solidFill>
            <a:srgbClr val="003A70"/>
          </a:solidFill>
          <a:ln/>
        </p:spPr>
      </p:sp>
      <p:sp>
        <p:nvSpPr>
          <p:cNvPr id="6" name="Shape 4"/>
          <p:cNvSpPr/>
          <p:nvPr/>
        </p:nvSpPr>
        <p:spPr>
          <a:xfrm>
            <a:off x="1600200" y="1371600"/>
            <a:ext cx="36576" cy="14630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5"/>
          <p:cNvSpPr/>
          <p:nvPr/>
        </p:nvSpPr>
        <p:spPr>
          <a:xfrm>
            <a:off x="1874520" y="1188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kick-off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54480" y="1517904"/>
            <a:ext cx="128016" cy="128016"/>
          </a:xfrm>
          <a:prstGeom prst="ellipse">
            <a:avLst/>
          </a:prstGeom>
          <a:solidFill>
            <a:srgbClr val="003A70"/>
          </a:solidFill>
          <a:ln/>
        </p:spPr>
      </p:sp>
      <p:sp>
        <p:nvSpPr>
          <p:cNvPr id="10" name="Shape 8"/>
          <p:cNvSpPr/>
          <p:nvPr/>
        </p:nvSpPr>
        <p:spPr>
          <a:xfrm>
            <a:off x="1600200" y="1645920"/>
            <a:ext cx="36576" cy="14630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1874520" y="146304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CLARA AWS deployment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7373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554480" y="1792224"/>
            <a:ext cx="128016" cy="128016"/>
          </a:xfrm>
          <a:prstGeom prst="ellipse">
            <a:avLst/>
          </a:prstGeom>
          <a:solidFill>
            <a:srgbClr val="003A70"/>
          </a:solidFill>
          <a:ln/>
        </p:spPr>
      </p:sp>
      <p:sp>
        <p:nvSpPr>
          <p:cNvPr id="14" name="Shape 12"/>
          <p:cNvSpPr/>
          <p:nvPr/>
        </p:nvSpPr>
        <p:spPr>
          <a:xfrm>
            <a:off x="1600200" y="1920240"/>
            <a:ext cx="36576" cy="14630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1874520" y="173736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 hub live; Portfolio Review designed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0116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26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554480" y="2066544"/>
            <a:ext cx="128016" cy="128016"/>
          </a:xfrm>
          <a:prstGeom prst="ellipse">
            <a:avLst/>
          </a:prstGeom>
          <a:solidFill>
            <a:srgbClr val="003A70"/>
          </a:solidFill>
          <a:ln/>
        </p:spPr>
      </p:sp>
      <p:sp>
        <p:nvSpPr>
          <p:cNvPr id="18" name="Shape 16"/>
          <p:cNvSpPr/>
          <p:nvPr/>
        </p:nvSpPr>
        <p:spPr>
          <a:xfrm>
            <a:off x="1600200" y="2194560"/>
            <a:ext cx="36576" cy="14630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1874520" y="201168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live Portfolio Review; exec session with Ari/Diya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2860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554480" y="2340864"/>
            <a:ext cx="128016" cy="128016"/>
          </a:xfrm>
          <a:prstGeom prst="ellipse">
            <a:avLst/>
          </a:prstGeom>
          <a:solidFill>
            <a:srgbClr val="003A70"/>
          </a:solidFill>
          <a:ln/>
        </p:spPr>
      </p:sp>
      <p:sp>
        <p:nvSpPr>
          <p:cNvPr id="22" name="Shape 20"/>
          <p:cNvSpPr/>
          <p:nvPr/>
        </p:nvSpPr>
        <p:spPr>
          <a:xfrm>
            <a:off x="1600200" y="2468880"/>
            <a:ext cx="36576" cy="14630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1874520" y="22860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 incident — trust damage with CSMs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25603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12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554480" y="2615184"/>
            <a:ext cx="128016" cy="128016"/>
          </a:xfrm>
          <a:prstGeom prst="ellipse">
            <a:avLst/>
          </a:prstGeom>
          <a:solidFill>
            <a:srgbClr val="003A70"/>
          </a:solidFill>
          <a:ln/>
        </p:spPr>
      </p:sp>
      <p:sp>
        <p:nvSpPr>
          <p:cNvPr id="26" name="Shape 24"/>
          <p:cNvSpPr/>
          <p:nvPr/>
        </p:nvSpPr>
        <p:spPr>
          <a:xfrm>
            <a:off x="1600200" y="2743200"/>
            <a:ext cx="36576" cy="14630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1874520" y="25603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 workshop hands-on sessions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28346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554480" y="2889504"/>
            <a:ext cx="128016" cy="128016"/>
          </a:xfrm>
          <a:prstGeom prst="ellipse">
            <a:avLst/>
          </a:prstGeom>
          <a:solidFill>
            <a:srgbClr val="003A70"/>
          </a:solidFill>
          <a:ln/>
        </p:spPr>
      </p:sp>
      <p:sp>
        <p:nvSpPr>
          <p:cNvPr id="30" name="Shape 28"/>
          <p:cNvSpPr/>
          <p:nvPr/>
        </p:nvSpPr>
        <p:spPr>
          <a:xfrm>
            <a:off x="1600200" y="3017520"/>
            <a:ext cx="36576" cy="14630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9"/>
          <p:cNvSpPr/>
          <p:nvPr/>
        </p:nvSpPr>
        <p:spPr>
          <a:xfrm>
            <a:off x="1874520" y="283464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Diya governance session; 3-pillar structure endorsed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31089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554480" y="3163824"/>
            <a:ext cx="128016" cy="128016"/>
          </a:xfrm>
          <a:prstGeom prst="ellipse">
            <a:avLst/>
          </a:prstGeom>
          <a:solidFill>
            <a:srgbClr val="003A70"/>
          </a:solidFill>
          <a:ln/>
        </p:spPr>
      </p:sp>
      <p:sp>
        <p:nvSpPr>
          <p:cNvPr id="34" name="Shape 32"/>
          <p:cNvSpPr/>
          <p:nvPr/>
        </p:nvSpPr>
        <p:spPr>
          <a:xfrm>
            <a:off x="1600200" y="3291840"/>
            <a:ext cx="36576" cy="14630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3"/>
          <p:cNvSpPr/>
          <p:nvPr/>
        </p:nvSpPr>
        <p:spPr>
          <a:xfrm>
            <a:off x="1874520" y="310896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 + Chris onboarded; Life SLT demo; Bedrock API working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33832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4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554480" y="3438144"/>
            <a:ext cx="128016" cy="128016"/>
          </a:xfrm>
          <a:prstGeom prst="ellipse">
            <a:avLst/>
          </a:prstGeom>
          <a:solidFill>
            <a:srgbClr val="003A70"/>
          </a:solidFill>
          <a:ln/>
        </p:spPr>
      </p:sp>
      <p:sp>
        <p:nvSpPr>
          <p:cNvPr id="38" name="Shape 36"/>
          <p:cNvSpPr/>
          <p:nvPr/>
        </p:nvSpPr>
        <p:spPr>
          <a:xfrm>
            <a:off x="1600200" y="3566160"/>
            <a:ext cx="36576" cy="14630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Text 37"/>
          <p:cNvSpPr/>
          <p:nvPr/>
        </p:nvSpPr>
        <p:spPr>
          <a:xfrm>
            <a:off x="1874520" y="338328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PM app revealed; 2-week release cycle adopted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36576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554480" y="3712464"/>
            <a:ext cx="128016" cy="128016"/>
          </a:xfrm>
          <a:prstGeom prst="ellipse">
            <a:avLst/>
          </a:prstGeom>
          <a:solidFill>
            <a:srgbClr val="003A70"/>
          </a:solidFill>
          <a:ln/>
        </p:spPr>
      </p:sp>
      <p:sp>
        <p:nvSpPr>
          <p:cNvPr id="42" name="Shape 40"/>
          <p:cNvSpPr/>
          <p:nvPr/>
        </p:nvSpPr>
        <p:spPr>
          <a:xfrm>
            <a:off x="1600200" y="3840480"/>
            <a:ext cx="36576" cy="14630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Text 41"/>
          <p:cNvSpPr/>
          <p:nvPr/>
        </p:nvSpPr>
        <p:spPr>
          <a:xfrm>
            <a:off x="1874520" y="3657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 Five breakthrough; cross-OU sessions; Idris Abram onboarded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39319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11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554480" y="3986784"/>
            <a:ext cx="128016" cy="128016"/>
          </a:xfrm>
          <a:prstGeom prst="ellipse">
            <a:avLst/>
          </a:prstGeom>
          <a:solidFill>
            <a:srgbClr val="003A70"/>
          </a:solidFill>
          <a:ln/>
        </p:spPr>
      </p:sp>
      <p:sp>
        <p:nvSpPr>
          <p:cNvPr id="46" name="Shape 44"/>
          <p:cNvSpPr/>
          <p:nvPr/>
        </p:nvSpPr>
        <p:spPr>
          <a:xfrm>
            <a:off x="1600200" y="4114800"/>
            <a:ext cx="36576" cy="14630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Text 45"/>
          <p:cNvSpPr/>
          <p:nvPr/>
        </p:nvSpPr>
        <p:spPr>
          <a:xfrm>
            <a:off x="1874520" y="39319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Factory MCP pivot; Salesforce integration designed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42062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30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554480" y="4261104"/>
            <a:ext cx="128016" cy="128016"/>
          </a:xfrm>
          <a:prstGeom prst="ellipse">
            <a:avLst/>
          </a:prstGeom>
          <a:solidFill>
            <a:srgbClr val="00A3E0"/>
          </a:solidFill>
          <a:ln/>
        </p:spPr>
      </p:sp>
      <p:sp>
        <p:nvSpPr>
          <p:cNvPr id="50" name="Shape 48"/>
          <p:cNvSpPr/>
          <p:nvPr/>
        </p:nvSpPr>
        <p:spPr>
          <a:xfrm>
            <a:off x="1600200" y="4389120"/>
            <a:ext cx="36576" cy="14630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1" name="Text 49"/>
          <p:cNvSpPr/>
          <p:nvPr/>
        </p:nvSpPr>
        <p:spPr>
          <a:xfrm>
            <a:off x="1874520" y="420624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Gainsight hard launch (upcoming)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57200" y="44805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554480" y="4535424"/>
            <a:ext cx="128016" cy="128016"/>
          </a:xfrm>
          <a:prstGeom prst="ellipse">
            <a:avLst/>
          </a:prstGeom>
          <a:solidFill>
            <a:srgbClr val="00A3E0"/>
          </a:solidFill>
          <a:ln/>
        </p:spPr>
      </p:sp>
      <p:sp>
        <p:nvSpPr>
          <p:cNvPr id="54" name="Text 52"/>
          <p:cNvSpPr/>
          <p:nvPr/>
        </p:nvSpPr>
        <p:spPr>
          <a:xfrm>
            <a:off x="1874520" y="448056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Exceedance event — Build in Five demo target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56" name="Text 54"/>
          <p:cNvSpPr/>
          <p:nvPr/>
        </p:nvSpPr>
        <p:spPr>
          <a:xfrm>
            <a:off x="457200" y="48188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Gen AI Programme  |  Confidential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772400" y="48188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Risks &amp; Watchlist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05840" cy="2011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600200" y="11704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personnel concentration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00200" y="1371600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 (strategy), BenVH (infra), Azmain (features) carry the programme. Richard interviewing in NYC. BenVH emotionally depleted. No succession plan.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005840" cy="2011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916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00200" y="16733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cost trajectory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00200" y="1874520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at $1,163 in two weeks, on pace for $10K/month. No per-project or per-user cost attribution. Tags not configured.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1005840" cy="2011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1945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600200" y="21762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outpacing capacity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00200" y="2377440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Salesforce, Gainsight, cross-OU, Asia-Pac all emerging simultaneously. Every new consumer adds load to a team that hasn't grown.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1005840" cy="2011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6974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600200" y="26791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fragility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00200" y="2880360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tested rollback procedure. BenVH is the only deployer. Schema changes have caused production breakage.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1005840" cy="2011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2004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600200" y="31821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Post-12-week business case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00200" y="3383280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Diya asked for outcomes and a continuation plan. Not addressed. Clock is ticking.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3703320"/>
            <a:ext cx="1005840" cy="2011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7033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600200" y="3685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Gainsight March 30 launch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600200" y="3886200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date confirmed. Immediate questions about CLARA sync expected. Phase 2 planning needs to accelerate.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4206240"/>
            <a:ext cx="1005840" cy="2011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2062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600200" y="4187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debt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600200" y="4389120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 has zero formal documentation. If Azmain is unavailable, nobody can maintain it independently.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8188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Gen AI Programme  |  Confidential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772400" y="48188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Threads to Watch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435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 Adoption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CSMs using it daily? Feedback loop functioning? Data quality blocking trust.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2435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Strain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00600" y="14813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Azmain's bandwidth, token costs, dev capacity across 10 projects. Grads arriving April.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579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/ Gainsight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Gainsight hard launch March 30. Salesforce one-way read designed. Both via App Factory MCP.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210312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1579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 Five Demo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23957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Martin's May exceedance target. MCP server integration is the critical next step.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0723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Cross-OU Expansion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3101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Banking, AM, Life all interested. Wednesday showcase with ISLTR. Currently unfunded.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301752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0723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Engagement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33101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leaning in (Catherine, Idrees), who's drifting (Diya attention span).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93192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9867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BenVH / Nikhil Conflict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2245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breaking point. Richard planning confrontation. Nikhil to be redirected to Salesforce.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393192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9867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Maturity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42245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Transitioning from informal to structured. Post-12-week case needed. Catherine as new ally.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8188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Gen AI Programme  |  Confidential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772400" y="48188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Programme Debrief for Diana — March 2026</dc:title>
  <dc:subject>PptxGenJS Presentation</dc:subject>
  <dc:creator>Customer Success Gen AI Programme</dc:creator>
  <cp:lastModifiedBy>Customer Success Gen AI Programme</cp:lastModifiedBy>
  <cp:revision>1</cp:revision>
  <dcterms:created xsi:type="dcterms:W3CDTF">2026-03-12T05:39:21Z</dcterms:created>
  <dcterms:modified xsi:type="dcterms:W3CDTF">2026-03-12T05:39:21Z</dcterms:modified>
</cp:coreProperties>
</file>