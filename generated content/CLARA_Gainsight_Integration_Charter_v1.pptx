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200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Charter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(Draft)  |  13 March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Azmain Hossain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Gen AI Programme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Moody's Analytics — Insurance Division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Purpose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charter defines the scope, responsibilities, timeline, and success criteria for integrating CLARA with Gainsight.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exists to ensure both teams have a shared understanding of what will be built, by whom, and by when — so that no party is surprised by requirements, resource demands, or delivery expectations during execution.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2560320" cy="2286000"/>
          </a:xfrm>
          <a:prstGeom prst="rect">
            <a:avLst>
              <a:gd name="adj" fmla="val 400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00400"/>
            <a:ext cx="256032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objects will be synchronised and in what 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3200400"/>
            <a:ext cx="2560320" cy="2286000"/>
          </a:xfrm>
          <a:prstGeom prst="rect">
            <a:avLst>
              <a:gd name="adj" fmla="val 4000"/>
            </a:avLst>
          </a:prstGeom>
          <a:solidFill>
            <a:srgbClr val="F2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3200400"/>
            <a:ext cx="256032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 — Gainsight team vs CLARA team vs joint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200400"/>
            <a:ext cx="2560320" cy="2286000"/>
          </a:xfrm>
          <a:prstGeom prst="rect">
            <a:avLst>
              <a:gd name="adj" fmla="val 4000"/>
            </a:avLst>
          </a:prstGeom>
          <a:solidFill>
            <a:srgbClr val="F2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200400"/>
            <a:ext cx="256032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milestones from charter sign-off through production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3200400"/>
            <a:ext cx="2560320" cy="2286000"/>
          </a:xfrm>
          <a:prstGeom prst="rect">
            <a:avLst>
              <a:gd name="adj" fmla="val 4000"/>
            </a:avLst>
          </a:prstGeom>
          <a:solidFill>
            <a:srgbClr val="F2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9098280" y="3200400"/>
            <a:ext cx="256032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success criteria for POC and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03520" cy="2560320"/>
          </a:xfrm>
          <a:prstGeom prst="rect">
            <a:avLst>
              <a:gd name="adj" fmla="val 3571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CSMs. Unified view of customer health, engagement, time tracking, and BAU activities. Production go-live: 30 March 2026.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303520" cy="2560320"/>
          </a:xfrm>
          <a:prstGeom prst="rect">
            <a:avLst>
              <a:gd name="adj" fmla="val 3571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IRP adoption tracker. Serves CSMs, product, implementation, and advisory teams. Used in weekly Portfolio Reviews. Primary migration reporting surface.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097280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must duplicate data entry across both systems. Cross-functional teams lose visibility into CSM-side activities.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CSMs to work primarily in Gainsight while ensuring IRP adoption data flows seamlessly to CLARA, and cross-functional inputs in CLARA are visible back in Gainsight.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Parties &amp; Stakeholders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Team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Azmain Hossain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Manager &amp; Lead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Brooks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Owner, CLARA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 Dosoo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&amp; Operational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BenVH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Engineer (AWS, CI/CD, App Factory)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/ Business Systems Team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Tina Palumbo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Systems, Gainsight Programme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Architect, Gainsight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Lead, Gainsight 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Nadeem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Manager, Gainsight Programme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Guiding Principles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777240"/>
          </a:xfrm>
          <a:prstGeom prst="rect">
            <a:avLst>
              <a:gd name="adj" fmla="val 5882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is the system of record for CSM BAU.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727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should not enter the same data in two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0972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is the system of record for cross-functional IRP tracking.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4414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implementation, and advisory teams work in CLARA.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0972800" cy="777240"/>
          </a:xfrm>
          <a:prstGeom prst="rect">
            <a:avLst>
              <a:gd name="adj" fmla="val 5882"/>
            </a:avLst>
          </a:prstGeom>
          <a:solidFill>
            <a:srgbClr val="F2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must be bi-directional.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3101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both ways — CSM inputs and cross-functional inputs.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0972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system replaces the other.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17880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covers full lifecycle. CLARA covers IRP adoption.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10972800" cy="777240"/>
          </a:xfrm>
          <a:prstGeom prst="rect">
            <a:avLst>
              <a:gd name="adj" fmla="val 5882"/>
            </a:avLst>
          </a:prstGeom>
          <a:solidFill>
            <a:srgbClr val="F2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7091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prove connectivity, then expand.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50474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must demonstrate end-to-end data flow first.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097280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05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80160" y="55778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disruption to active migrations.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59161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scorecard target (30+ migrations) takes priority.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Scope — Phase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651760" cy="4754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80160"/>
            <a:ext cx="2651760" cy="640080"/>
          </a:xfrm>
          <a:prstGeom prst="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645920"/>
            <a:ext cx="26517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(Parent + Sub)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1280160"/>
            <a:ext cx="2651760" cy="4754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280160"/>
            <a:ext cx="2651760" cy="640080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3429000" y="1645920"/>
            <a:ext cx="26517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IRP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21945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/ Users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(Bi-directional)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280160"/>
            <a:ext cx="2651760" cy="4754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280160"/>
            <a:ext cx="2651760" cy="640080"/>
          </a:xfrm>
          <a:prstGeom prst="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645920"/>
            <a:ext cx="265176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21945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Adoption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/ Activity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(Bi-directional)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Feed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1280160"/>
            <a:ext cx="2651760" cy="475488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280160"/>
            <a:ext cx="2651760" cy="640080"/>
          </a:xfrm>
          <a:prstGeom prst="rect">
            <a:avLst>
              <a:gd name="adj" fmla="val 14286"/>
            </a:avLst>
          </a:prstGeom>
          <a:solidFill>
            <a:srgbClr val="6B7280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9720" y="1645920"/>
            <a:ext cx="2651760" cy="3200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720" y="13258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8972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18320" y="219456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365 Context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Telemetry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Verbatim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Health Scores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EFF"/>
                </a:solidFill>
              </a:rPr>
              <a:t>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7220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EFF"/>
                </a:solidFill>
              </a:rPr>
              <a:t>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52560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EFF"/>
                </a:solidFill>
              </a:rPr>
              <a:t>▶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Scope — Phase 1: Foundation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Customer Updates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(Parent + Sub)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parent_accounts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→ CLARA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Establishes account hierarchy. Must include parent-subsidiary relationships. CLARA currently holds 155+ active accounts.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Bi-directional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Per-account executive summaries and meeting notes. CLARA auto-generates these from transcribed weekly calls. CSMs also enter updates in Gainsight. Both sources must be visible in both systems.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Scope — Phase 2: Core IRP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Blockers &amp; Success Criteria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/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(CSM assignments)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→ CLARA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CSMs and key contacts to accounts.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/ Custom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(Blocker)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Bi-directional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CSM-created blockers originate in Gainsight. Product/implementation-created blockers originate in CLARA. Both systems must reflect the full set.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(CSC)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success_criteria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Bi-directional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 use case success criteria tracked by CSMs in Gainsight, supplemented by product teams in CLARA.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Scope — Phase 3: Extended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Tasks &amp; Case Feed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5943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product_adoption_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→ CLARA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milestone data for IRP products.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/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action_plans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Bi-directional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Cross-functional action items. CSM tasks from Gainsight, product/implementation tasks from CLARA.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Case Feed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case_feed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(new table)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 → CLARA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 context for blocker analysis and reporting. New data object in CLARA.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Scope — Phase 4+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— requires separate scoping after Phases 1-3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(Graph 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meeting signals per account to enrich CS Agent synthesis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API access, security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Telemetry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(MIDAS / Mixpanel)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usage signals for adoption scoring and proactive engagement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MIDAS integration, data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Verbatim &amp;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Detractor CTAs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data for sentiment overlay (closes AMBER scorecard item)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Qualtrics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 Health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(read-only)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CSM qualitative health as context signal — Gainsight remains 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 reporting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Write-back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/ Gainsight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Gated, future-state capability — requires governance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framework, security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Integration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pattern based on 12 March 2026 discussion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71600" y="1371600"/>
            <a:ext cx="2560320" cy="914400"/>
          </a:xfrm>
          <a:prstGeom prst="rect">
            <a:avLst>
              <a:gd name="adj" fmla="val 10000"/>
            </a:avLst>
          </a:prstGeom>
          <a:solidFill>
            <a:srgbClr val="F2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508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(CRM)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3840480" cy="2011680"/>
          </a:xfrm>
          <a:prstGeom prst="rect">
            <a:avLst>
              <a:gd name="adj" fmla="val 4545"/>
            </a:avLst>
          </a:prstGeom>
          <a:solidFill>
            <a:srgbClr val="EEF2FF"/>
          </a:solidFill>
          <a:ln w="25400">
            <a:solidFill>
              <a:srgbClr val="00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43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System of Record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 |  Engagement  |  Time Tracking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 |  Blockers  |  Activities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651760"/>
            <a:ext cx="3840480" cy="2011680"/>
          </a:xfrm>
          <a:prstGeom prst="rect">
            <a:avLst>
              <a:gd name="adj" fmla="val 4545"/>
            </a:avLst>
          </a:prstGeom>
          <a:solidFill>
            <a:srgbClr val="EEF2FF"/>
          </a:solidFill>
          <a:ln w="25400">
            <a:solidFill>
              <a:srgbClr val="0911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743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IRP Tracker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3520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Reporting  |  Portfolio Reviews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 |  Adoption  |  Action Plans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25603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3063240"/>
            <a:ext cx="2194560" cy="45720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(S3)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Contacts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3931920"/>
            <a:ext cx="256032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EFF"/>
                </a:solidFill>
              </a:rPr>
              <a:t>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EFF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4069080"/>
            <a:ext cx="2194560" cy="45720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(Real-time)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Blockers, Tasks, Updates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5029200"/>
            <a:ext cx="2011680" cy="73152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5074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Factory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5029200"/>
            <a:ext cx="2560320" cy="731520"/>
          </a:xfrm>
          <a:prstGeom prst="rect">
            <a:avLst>
              <a:gd name="adj" fmla="val 12500"/>
            </a:avLst>
          </a:prstGeom>
          <a:solidFill>
            <a:srgbClr val="F2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7744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Integration Methods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real-time by data type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(Parent + Sub)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(S3)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change frequency. Proven and low-risk.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Weekly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(real-time)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create/update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summaries from CLARA, CSM updates from Gainsight.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/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(S3)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change frequency.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Blocker (Case / Custom)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(real-time)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create/update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CSMs and product teams need immediacy. Delay causes duplication.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(real-time)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create/update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during engagements. Timeliness matters.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Adoption (PAT)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(S3)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data, not time-critical.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/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5E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(real-time)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create/update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Cross-functional coordination requires immediacy.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Feed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(S3)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context. No real-time requirement.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Authentication &amp; Connectivity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Team Provides: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5029200" cy="411480"/>
          </a:xfrm>
          <a:prstGeom prst="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API documentation (endpoints, schemas, rate limits, error handling)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0292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Authentication method and credentials (API key, OAuth, SSO — TBC)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5029200" cy="411480"/>
          </a:xfrm>
          <a:prstGeom prst="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97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S3 bucket configuration for batch exchange (IAM roles, encryption)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50292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Sandbox / test environment access for POC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Team Provides: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5029200" cy="411480"/>
          </a:xfrm>
          <a:prstGeom prst="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691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CLARA API specification (REST endpoints for all in-scope objects)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50292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194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Authentication details for CLARA's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697480"/>
            <a:ext cx="5029200" cy="411480"/>
          </a:xfrm>
          <a:prstGeom prst="rect">
            <a:avLst>
              <a:gd name="adj" fmla="val 11111"/>
            </a:avLst>
          </a:prstGeom>
          <a:solidFill>
            <a:srgbClr val="F2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697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mapping document (GS field → CLARA field + transformations)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5029200" cy="411480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200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Test environment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114800"/>
            <a:ext cx="1069848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App Factory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orchestration managed through App Factory (CLARA's AWS infrastructure layer). Handles API orchestration, retry logic, data transformation, error logging, rate limiting, and backpressure management. This approach is vendor-agnostic — the integration layer can be adapted if underlying systems change.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Responsibilities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474720" cy="457200"/>
          </a:xfrm>
          <a:prstGeom prst="rect">
            <a:avLst>
              <a:gd name="adj" fmla="val 10000"/>
            </a:avLst>
          </a:prstGeom>
          <a:solidFill>
            <a:srgbClr val="09116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Team Owns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documentation &amp; access provisioning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S3 bucket setup &amp; batch export config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Sandbox environment for POC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895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export scheduling &amp; reliability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Webhook / event config for real-time sync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model documentation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41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CSM change management &amp; training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256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GS-side testing &amp; validation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8097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 management (Nadeem)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188720"/>
            <a:ext cx="3474720" cy="457200"/>
          </a:xfrm>
          <a:prstGeom prst="rect">
            <a:avLst>
              <a:gd name="adj" fmla="val 10000"/>
            </a:avLst>
          </a:prstGeom>
          <a:solidFill>
            <a:srgbClr val="091164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Team Owns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1737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endpoints for receiving &amp; sending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121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transformation &amp; mapping logic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Storage, indexing &amp; display of GS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28895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orchestration (App Factory)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CLARA-side testing &amp; 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657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Reporting &amp; dashboards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4041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Technical architecture &amp; infrastructure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1188720"/>
            <a:ext cx="3474720" cy="457200"/>
          </a:xfrm>
          <a:prstGeom prst="rect">
            <a:avLst>
              <a:gd name="adj" fmla="val 10000"/>
            </a:avLst>
          </a:prstGeom>
          <a:solidFill>
            <a:srgbClr val="005EFF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Responsibilities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38160" y="1737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mapping agreement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38160" y="2121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testing (end-to-end)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38160" y="25054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 handling &amp; escalation procedures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28895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POC evaluation &amp; go/no-go decision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3816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Ongoing monitoring &amp; incident response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Success Criteria — POC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731520"/>
          </a:xfrm>
          <a:prstGeom prst="rect">
            <a:avLst>
              <a:gd name="adj" fmla="val 6250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proven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5544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can authenticate with and read from the Gainsight API (or consume S3 exports).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09728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0574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sync working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3774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10 parent accounts with subsidiaries synced with correct hierarchy.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0972800" cy="731520"/>
          </a:xfrm>
          <a:prstGeom prst="rect">
            <a:avLst>
              <a:gd name="adj" fmla="val 6250"/>
            </a:avLst>
          </a:prstGeom>
          <a:solidFill>
            <a:srgbClr val="F2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round-trip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blocker created in either system appears in the other within 5 minutes.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09728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703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records match — no data loss, no field truncation, no encoding issues.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0972800" cy="731520"/>
          </a:xfrm>
          <a:prstGeom prst="rect">
            <a:avLst>
              <a:gd name="adj" fmla="val 6250"/>
            </a:avLst>
          </a:prstGeom>
          <a:solidFill>
            <a:srgbClr val="F2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45262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regression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846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CLARA's existing functionality (Portfolio Reviews, dashboards, reporting) is unaffected.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0972800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5349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56692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under 2 seconds. Batch jobs complete within agreed windows.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Success Criteria — Production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685800"/>
          </a:xfrm>
          <a:prstGeom prst="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2801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 1-3 data objects synchronised per the schedule defined in integration methods.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097280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2103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can enter IRP use cases and blockers in Gainsight and see them reflected in CLARA without manual intervention.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0972800" cy="685800"/>
          </a:xfrm>
          <a:prstGeom prst="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teams can enter blockers and action items in CLARA and have them visible in Gainsight without manual intervention.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097280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37490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instances of CSMs needing to double-enter data across both systems for objects covered by the integration.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0972800" cy="685800"/>
          </a:xfrm>
          <a:prstGeom prst="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4572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CLARA's management reporting accurately reflects data from both sources.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097280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5394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uptime of 99.5% during business hours (08:00-18:00 GMT).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Timeline — Constraints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10972800" cy="1051560"/>
          </a:xfrm>
          <a:prstGeom prst="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80160"/>
            <a:ext cx="73152" cy="1051560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Onboarding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March 2026 deadline (RMS, Cape, Predicate teams). No capacity for integration before this.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109728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14600"/>
            <a:ext cx="73152" cy="1051560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Stabilisation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weeks after go-live (April 2026) for Gainsight to stabilise with new user groups.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0972800" cy="1051560"/>
          </a:xfrm>
          <a:prstGeom prst="rect">
            <a:avLst>
              <a:gd name="adj" fmla="val 8696"/>
            </a:avLst>
          </a:prstGeom>
          <a:solidFill>
            <a:srgbClr val="F2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1051560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Graduate Onboarding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rotating graduates arriving 7 April 2026. Available for integration support from May.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09728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98348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Team Priority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insurance scorecard target (30+ migrations) is the primary obligation. Integration is secondary.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Proposed Milestones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109728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 signed off by both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Azmain / Tina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Gainsight API documentation shared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 / Shashank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API specification shared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Azmain / BenVH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mapping document agreed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environment setup (sandbox both sides)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POC: Batch account sync + customer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POC: Real-time blocker 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evaluation and go/no-go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+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production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production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4+ scoping begins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Governance Checkpoints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work reviewed as part of CLARA governance (fortnightly Tuesday reviews, facilitated by Natalia Plant).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606040" cy="2743200"/>
          </a:xfrm>
          <a:prstGeom prst="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03120"/>
            <a:ext cx="260604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Approval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and governance leads sign off on this charter.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103120"/>
            <a:ext cx="2606040" cy="2743200"/>
          </a:xfrm>
          <a:prstGeom prst="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103120"/>
            <a:ext cx="260604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Go / No-Go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POC success criteria (Section 8). All six criteria must be met.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06040" cy="2743200"/>
          </a:xfrm>
          <a:prstGeom prst="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103120"/>
            <a:ext cx="260604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Go / No-Go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POC results and resource availability.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2103120"/>
            <a:ext cx="2606040" cy="2743200"/>
          </a:xfrm>
          <a:prstGeom prst="rect">
            <a:avLst>
              <a:gd name="adj" fmla="val 3509"/>
            </a:avLst>
          </a:prstGeom>
          <a:solidFill>
            <a:srgbClr val="F2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103120"/>
            <a:ext cx="260604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2331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Go / No-Go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35440" y="320040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Phase 2 stability and remaining scope.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EFF"/>
                </a:solidFill>
              </a:rPr>
              <a:t>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076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EFF"/>
                </a:solidFill>
              </a:rPr>
              <a:t>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1540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5EFF"/>
                </a:solidFill>
              </a:rPr>
              <a:t>▶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Risks &amp; Mitigations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1-4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0972800" cy="1097280"/>
          </a:xfrm>
          <a:prstGeom prst="rect">
            <a:avLst>
              <a:gd name="adj" fmla="val 4167"/>
            </a:avLst>
          </a:prstGeom>
          <a:solidFill>
            <a:srgbClr val="F2F4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88720"/>
            <a:ext cx="73152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2801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Gainsight API limitations prevent real-time sync for blockers/tasks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POC specifically tests real-time capability. Fallback: near-real-time batch (every 15 min) via S3.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09728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468880"/>
            <a:ext cx="73152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Integration work diverts CLARA team from migration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Integration is explicitly secondary. Governed via fortnightly reviews. Graduates (from May) allocated to integration.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0972800" cy="1097280"/>
          </a:xfrm>
          <a:prstGeom prst="rect">
            <a:avLst>
              <a:gd name="adj" fmla="val 4167"/>
            </a:avLst>
          </a:prstGeom>
          <a:solidFill>
            <a:srgbClr val="F2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7490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40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840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Data model mismatch between Gainsight and CLARA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51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Data mapping agreed before build. Transformation centralised in App Factory middleware.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09728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02920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20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5120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Gainsight team capacity constrained by RMS onboarding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5532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Timeline accounts for March-April stabilisation. No POC work until May at earliest.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Risks &amp; Mitigations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5-8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0972800" cy="1097280"/>
          </a:xfrm>
          <a:prstGeom prst="rect">
            <a:avLst>
              <a:gd name="adj" fmla="val 4167"/>
            </a:avLst>
          </a:prstGeom>
          <a:solidFill>
            <a:srgbClr val="F2F4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8872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12801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R5: Bi-directional sync creates data conflicts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691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Clear ownership rules per data type. Conflict resolution: source system wins. Audit trail for all sync ops.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09728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46888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Scope creep into Phase 4+ items during POC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971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Phase 4+ explicitly deferred. Any additions require governance approval and charter amendment.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0972800" cy="1097280"/>
          </a:xfrm>
          <a:prstGeom prst="rect">
            <a:avLst>
              <a:gd name="adj" fmla="val 4167"/>
            </a:avLst>
          </a:prstGeom>
          <a:solidFill>
            <a:srgbClr val="F2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7490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40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840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R7: CSM adoption of new Gainsight IRP workflows is 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4251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Gainsight team owns CSM change management and training. CLARA provides cross-functional docs.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0972800" cy="109728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02920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20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45920" y="5120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1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R8: Authentication/security review delays access provisioning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5532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Raise security review requests early (Phase 0). Both teams engage security contacts in parallel.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Change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changes to scope, timeline, or responsibilities must follow this process: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005E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0116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in writing (email or shared document comment)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51460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|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005E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at the next fortnightly governance session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|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611880"/>
            <a:ext cx="502920" cy="502920"/>
          </a:xfrm>
          <a:prstGeom prst="ellipse">
            <a:avLst/>
          </a:prstGeom>
          <a:solidFill>
            <a:srgbClr val="005E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5661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by both CLARA lead (Azmain) and Gainsight lead (Tina)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0690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|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005E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43434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governance (Natalia Orzechowska)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8463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|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" y="5166360"/>
            <a:ext cx="502920" cy="502920"/>
          </a:xfrm>
          <a:prstGeom prst="ellipse">
            <a:avLst/>
          </a:prstGeom>
          <a:solidFill>
            <a:srgbClr val="005E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51206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 charter amendment with version number and date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5669280"/>
            <a:ext cx="10698480" cy="548640"/>
          </a:xfrm>
          <a:prstGeom prst="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outside the defined scope will be undertaken without an approved charter amendment.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Assumptions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2000" cy="36576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0972800" cy="685800"/>
          </a:xfrm>
          <a:prstGeom prst="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Gainsight will have stable API and S3 export capabilities available for the POC.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097280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057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Gainsight team will provide dedicated technical resource (Rajesh/Shashank) for integration sessions.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10972800" cy="685800"/>
          </a:xfrm>
          <a:prstGeom prst="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CLARA's existing AWS infrastructure (App Factory) can support the integration middleware without additional provisioning.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097280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will have sandbox/test environments available that mirror production data structures.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0972800" cy="685800"/>
          </a:xfrm>
          <a:prstGeom prst="rect">
            <a:avLst>
              <a:gd name="adj" fmla="val 6667"/>
            </a:avLst>
          </a:prstGeom>
          <a:solidFill>
            <a:srgbClr val="F2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5262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will have been trained on entering IRP data in Gainsight before the integration goes live.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10972800" cy="68580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5349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data (accounts, contacts, cases) will continue to flow into Gainsight and does not need to be independently sourced by CLARA.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1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2000" cy="54864"/>
          </a:xfrm>
          <a:prstGeom prst="rect">
            <a:avLst/>
          </a:prstGeom>
          <a:solidFill>
            <a:srgbClr val="005E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Review and agree this charter (both teams)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Exchange API documentation and specifications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Agree data mapping document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Schedule POC kick-off (post Gainsight stabilisation)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CLARA-Gainsight Integration Charter  |  v1.0 Draft  |  13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CLARA-Gainsight Integration Charter</dc:title>
  <dc:subject>PptxGenJS Presentation</dc:subject>
  <dc:creator>Azmain Hossain</dc:creator>
  <cp:lastModifiedBy>Azmain Hossain</cp:lastModifiedBy>
  <cp:revision>1</cp:revision>
  <dcterms:created xsi:type="dcterms:W3CDTF">2026-03-13T04:02:01Z</dcterms:created>
  <dcterms:modified xsi:type="dcterms:W3CDTF">2026-03-13T04:02:01Z</dcterms:modified>
</cp:coreProperties>
</file>