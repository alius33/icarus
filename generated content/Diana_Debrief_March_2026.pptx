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A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Programme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2286000" cy="4572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246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 for Diana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3794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828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7043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1143000"/>
            <a:ext cx="1828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17043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560320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1828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17043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63440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1143000"/>
            <a:ext cx="1828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17043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766560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423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274320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 CLARA and deepen CSM adoption via weekly Portfolio Reviews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the Build in Five demo at May exceedance event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Gainsight (launching March 30) and Salesforce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App Factory as a shared MCP middleware for all AI apps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cross-OU (Banking, Life, Asset Management interested)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423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274320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concentration: Azmain, BenVH, and Richard carry nearly everything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expanding faster than capacity (Salesforce, Gainsight, cross-OU, Asia-Pac)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 costs on pace for $10K/month with no attribution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depends on a single person (BenVH) with no tested rollback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Post-twelve-week business case still unaddressed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Gen AI Programme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 (IRP Adoption Tracker)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463040" cy="292608"/>
          </a:xfrm>
          <a:prstGeom prst="rect">
            <a:avLst>
              <a:gd name="adj" fmla="val 15625"/>
            </a:avLst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— Stabilising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188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Azmain (dev) · Ben Brooks (product) · BenVH (infra)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4114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AWS, used in weekly Portfolio Reviews facilitated by Natalia Orzechowska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scorecard migration accounts tracked as priority dataset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(50%) and Chris onboarded — Chris on bugs, Nikhil on scorecard tab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Two-week structured release cycle adopted (replaces ad-hoc deploys)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API key working; RBAC implemented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(not features) is the primary adoption challenge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/ flat-pack approach proposed for cross-OU reuse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210312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Gainsight integration alignment (hard launch March 30)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one-way read (Cases + Case Feed via App Factory MCP)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tab and migration burndown completion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Voice and HD model data integration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3291840"/>
            <a:ext cx="4114800" cy="8686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33375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Azmain is the single point of failure for features. BenVH is the single point of failure for deployment. Both are under significant pressure.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Gen AI Programme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 Five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463040" cy="292608"/>
          </a:xfrm>
          <a:prstGeom prst="rect">
            <a:avLst>
              <a:gd name="adj" fmla="val 15625"/>
            </a:avLst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— Breakthrough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188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Martin Davies · Richard (vision)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4114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 built a near-complete dashboard builder that exceeded all expectations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Drag-drop UI with data, visual, and custom AI modes per component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white-labelling: themes, dark mode, logos, branding, corner radius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Risk Modeller API connection already working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 compared it to Databricks Genie — a capability the product team has but won't show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 intelligence: strategic deals with Anthropic and Palantir elevate this from demo tool to strategic engagement vehicle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210312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up Navigator MCP server — completes the live demo loop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cascade: tech consulting, then demo team, then sales, then exceedance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May exceedance event (content due April)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Elliot's blueprint profiling agent as the third convergence piece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3291840"/>
            <a:ext cx="4114800" cy="8686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33375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Martin's 12-week assignment is time-limited. Product positioning unresolved — Moody's product feature vs customer self-service tool.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Gen AI Programme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Factory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463040" cy="292608"/>
          </a:xfrm>
          <a:prstGeom prst="rect">
            <a:avLst>
              <a:gd name="adj" fmla="val 15625"/>
            </a:avLst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— MCP Pivot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188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BenVH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4114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BenVH pivoting core to an MCP server — middleware that any app can consume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request an LLM worker, App Factory spins it up and returns the connection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standalone UI — makes platform portable and composable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BenVH's patented Phantom Agent for AI governance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Asia-Pac interest (Singapore, Japan, Australia) adds validation and urgency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applications already linked to the platform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210312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completion (targeting end of this week)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Martin's Build in Five as first integration proof of concept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 showcase meeting with senior stakeholders and ISLTR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Inter-app communication: CLARA to Slidey via App Factory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3291840"/>
            <a:ext cx="4114800" cy="8686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33375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BenVH is overloaded — MCP server, Slidey auth, Juliet walkthrough, Martin integration, all existing deployment duties. Burnout risk is acute.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Gen AI Programme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(PM App)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463040" cy="292608"/>
          </a:xfrm>
          <a:prstGeom prst="rect">
            <a:avLst>
              <a:gd name="adj" fmla="val 15625"/>
            </a:avLst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— Diana-sponsored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188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Azmain (dev) · Diana (sponsor)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4114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PM app like Monday.com, built by Azmain using 30 concurrent AI agents in one day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Kanban, list/timeline views, milestones, budgeting, decision tracking, stakeholder heat maps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IRP projects sync bidirectionally with CLARA; non-IRP projects live only in Friday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endorsed it to replace slide-based Wednesday advisory project review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Prashant allocated to help with development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210312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presenting Friday vision to Ben Brooks and Charlotte for formal approval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dev (BenVH) without auth for a four-week pilot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with Diana's Excel file as initial data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3291840"/>
            <a:ext cx="4114800" cy="8686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33375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to Azmain's already-stretched bandwidth. No formal budget or sanctioning yet — unclear if skunkworks or official.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Gen AI Programme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Enablement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463040" cy="292608"/>
          </a:xfrm>
          <a:prstGeom prst="rect">
            <a:avLst>
              <a:gd name="adj" fmla="val 15625"/>
            </a:avLst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188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Azmain (nominal) · Pietro, Stephanie, Colin (advisory)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4114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framework exists: solution-focused training buckets, competency assessment, train-the-trainer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execution — CLARA consumed all of Azmain's bandwidth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training session (Dec 2025): 40 attendees from 80 registered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Azmain flagged to Natalia O. as the biggest/quickest win but no time allocated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Cross-OU enablement sessions delivered to Banking and Life (10 March)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210312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grads arriving April 7 may provide execution capacity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an owner other than Azmain — or his workload must be redistributed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insurance team's ROI approach and approval framework cross-OU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3291840"/>
            <a:ext cx="4114800" cy="8686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33375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Remains stalled unless someone other than Azmain is allocated to execute. Framework is ready — resourcing is the blocker.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Gen AI Programme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Agent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463040" cy="292608"/>
          </a:xfrm>
          <a:prstGeom prst="rect">
            <a:avLst>
              <a:gd name="adj" fmla="val 15625"/>
            </a:avLst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PROGRESS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188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Kevin Pern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4114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built a Copilot Studio + Salesforce prototype independently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programme oversight or operational integration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partially addressed through Salesforce integration alignment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Bernard (Life) built a separate Copilot health dashboard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Azmain told Natalia O. this workstream needs engagement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210312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check-in with Kevin to assess what exists and what's needed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alignment with Salesforce Cases integration (Kevin is one of four consumers)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whether this converges with the broader Salesforce/App Factory strategy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3291840"/>
            <a:ext cx="4114800" cy="8686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33375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in isolation. Risk of duplicate effort without programme coordination.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Gen AI Programme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 L1 Automation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463040" cy="292608"/>
          </a:xfrm>
          <a:prstGeom prst="rect">
            <a:avLst>
              <a:gd name="adj" fmla="val 15625"/>
            </a:avLst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188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Product team (Cihan, Lonny)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4114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Concept: use Navigator's upcoming API support to auto-answer L1 tickets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discussion held with Cihan and Lonny (19 Feb)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CS-side build started yet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Azmain admitted he doesn't fully understand it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 MCP server is now Build in Five's top integration priority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210312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on what CS needs to build vs what the product team delivers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integration with Martin's dashboard builder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CS requirements for L1 automation use cases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3291840"/>
            <a:ext cx="4114800" cy="8686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33375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clarity of all workstreams. Needs scoping before any resource commitment.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Gen AI Programme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Cross-OU Collaboration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463040" cy="292608"/>
          </a:xfrm>
          <a:prstGeom prst="rect">
            <a:avLst>
              <a:gd name="adj" fmla="val 15625"/>
            </a:avLst>
          </a:prstGeom>
          <a:solidFill>
            <a:srgbClr val="00A3E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188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Richard · Idrees (banking ally)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4114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(Gina Greer, Olivier) and Life (Jack Cheyne, Christian Curran) both engaged via Diya-requested sessions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teams at the same stage insurance was in Nov 2025: siloed initiatives, no dedicated resources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Idrees Deen (banking) formally onboarded as first non-core team member — working on retention dashboard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/ flat-pack CLARA approach proposed for cross-OU reuse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 showcase meeting planned with ISLTR in London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210312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ROI framework and approval approach cross-OU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 meeting with insurance, banking, asset management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resource model for cross-OU support (currently unfunded)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3291840"/>
            <a:ext cx="4114800" cy="8686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33375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team adds demand on BenVH (the only deployer) and Azmain. Expansion is unfunded.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Gen AI Programme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Management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463040" cy="292608"/>
          </a:xfrm>
          <a:prstGeom prst="rect">
            <a:avLst>
              <a:gd name="adj" fmla="val 15625"/>
            </a:avLst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— Maturing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188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Richard · Azmain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4114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Diya endorsed three-pillar structure: IRP governance, customer intelligence, platform enablement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Catherine emerged as a governance ally — volunteered for App Factory intake decision tree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Gainsight integration meeting set up with new stakeholders (Tina Palumbo, Nadim, Rajesh)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decisions logged, 44 risks tracked, 9 analytical trackers maintained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intelligence tracked systematically across all programme conversations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210312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Post-twelve-week business case still needs building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Factory governance approval board to be established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documentation of contributions and credit attribution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3291840"/>
            <a:ext cx="4114800" cy="8686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33375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Post-twelve-week business case is unaddressed and the clock is ticking. Programme has scaled ambition without scaling governance.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Gen AI Programme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TSR Enhancements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463040" cy="292608"/>
          </a:xfrm>
          <a:prstGeom prst="rect">
            <a:avLst>
              <a:gd name="adj" fmla="val 15625"/>
            </a:avLst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— New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188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Idris Abram · Azmain (support)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4114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Idris Abram formally onboarded with Ben Brooks's approval for dedicated time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TSR automation for cat bonds — first project outside core insurance CS team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test of the programme's enablement model: take someone from another team, provide tooling, produce output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Idris operating at a strategic level with strong domain knowledge of cat bonds and TSRs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210312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formal project scope and plan with Azmain's support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politics with Arno (Idris's current line manager)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TSR automation as a reference implementation for enablement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3291840"/>
            <a:ext cx="4114800" cy="8686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33375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coordination overhead for Azmain. Cat bond domain is unfamiliar to the team. Manageable if contained.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Gen AI Programme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3A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reference material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Gen AI Programme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People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43891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Richard Dosoo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 / Operational Owner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bridge between vision and execution. Manages Diya relationship. Flight risk (interviewing NYC).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Azmain Hossain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 &amp; CLARA Developer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Builds everything. Reports to Diana. Stretched across CLARA, Friday, and 5 other workstreams.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 Brooks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Owner (de facto)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CLARA v1. Pushes for speed. Shopping CLARA cross-OU. Exceedance panel planning.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BenVH (Van Houten)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&amp; Deployment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person who can deploy. App Factory architect. Owns patented Phantom Agent. Burnout risk.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Natalia Orzechowska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Director / CS Lead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Portfolio Reviews. Practical, process-focused. Your skip-level manager.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Natalia Plant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Gainsight Team Lead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the Gainsight team. Key contact for Gainsight integration.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Martin Davies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in Five Developer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12-week assignment. Output exceeds expectations. Dashboard builder compared to Databricks Genie.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Nikhil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Consulting (50% AF / 50% CLARA)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API working. Being redirected from App Factory due to interpersonal conflict.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Chris 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(CLARA bugs)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Methodical, adapting well. Next assignment: Salesforce integration.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Idrees Deen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Banking CS / Cross-OU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Cross-OU coalition builder. Retention dashboard. Strategic thinker, strong banking ally.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Idris Abram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TSR Enhancements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expansion outside core team. Cat bond / TSR automation. Ben Brooks approved dedicated time.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Catherine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&amp; Gainsight Governance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Strongest new ally. Volunteered for App Factory governance. Full advocate conversion.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Diya Sawhny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 Sponsor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Impatient with detail. Wants elevator pitches. Engagement improved after Feb governance session.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Gen AI Programme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00200" y="1207008"/>
            <a:ext cx="128016" cy="128016"/>
          </a:xfrm>
          <a:prstGeom prst="ellipse">
            <a:avLst/>
          </a:prstGeom>
          <a:solidFill>
            <a:srgbClr val="003A70"/>
          </a:solidFill>
          <a:ln/>
        </p:spPr>
      </p:sp>
      <p:sp>
        <p:nvSpPr>
          <p:cNvPr id="6" name="Shape 4"/>
          <p:cNvSpPr/>
          <p:nvPr/>
        </p:nvSpPr>
        <p:spPr>
          <a:xfrm>
            <a:off x="1645920" y="1335024"/>
            <a:ext cx="36576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114300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kick-off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4356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14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00200" y="1499616"/>
            <a:ext cx="128016" cy="128016"/>
          </a:xfrm>
          <a:prstGeom prst="ellipse">
            <a:avLst/>
          </a:prstGeom>
          <a:solidFill>
            <a:srgbClr val="003A70"/>
          </a:solidFill>
          <a:ln/>
        </p:spPr>
      </p:sp>
      <p:sp>
        <p:nvSpPr>
          <p:cNvPr id="10" name="Shape 8"/>
          <p:cNvSpPr/>
          <p:nvPr/>
        </p:nvSpPr>
        <p:spPr>
          <a:xfrm>
            <a:off x="1645920" y="1627632"/>
            <a:ext cx="36576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1920240" y="143560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CLARA AWS deployment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7282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00200" y="1792224"/>
            <a:ext cx="128016" cy="128016"/>
          </a:xfrm>
          <a:prstGeom prst="ellipse">
            <a:avLst/>
          </a:prstGeom>
          <a:solidFill>
            <a:srgbClr val="003A70"/>
          </a:solidFill>
          <a:ln/>
        </p:spPr>
      </p:sp>
      <p:sp>
        <p:nvSpPr>
          <p:cNvPr id="14" name="Shape 12"/>
          <p:cNvSpPr/>
          <p:nvPr/>
        </p:nvSpPr>
        <p:spPr>
          <a:xfrm>
            <a:off x="1645920" y="1920240"/>
            <a:ext cx="36576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1920240" y="1728216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 hub live; Portfolio Review designed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0208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600200" y="2084832"/>
            <a:ext cx="128016" cy="128016"/>
          </a:xfrm>
          <a:prstGeom prst="ellipse">
            <a:avLst/>
          </a:prstGeom>
          <a:solidFill>
            <a:srgbClr val="003A70"/>
          </a:solidFill>
          <a:ln/>
        </p:spPr>
      </p:sp>
      <p:sp>
        <p:nvSpPr>
          <p:cNvPr id="18" name="Shape 16"/>
          <p:cNvSpPr/>
          <p:nvPr/>
        </p:nvSpPr>
        <p:spPr>
          <a:xfrm>
            <a:off x="1645920" y="2212848"/>
            <a:ext cx="36576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1920240" y="202082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live Portfolio Review; exec session with Ari/Diya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23134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00200" y="2377440"/>
            <a:ext cx="128016" cy="128016"/>
          </a:xfrm>
          <a:prstGeom prst="ellipse">
            <a:avLst/>
          </a:prstGeom>
          <a:solidFill>
            <a:srgbClr val="003A70"/>
          </a:solidFill>
          <a:ln/>
        </p:spPr>
      </p:sp>
      <p:sp>
        <p:nvSpPr>
          <p:cNvPr id="22" name="Shape 20"/>
          <p:cNvSpPr/>
          <p:nvPr/>
        </p:nvSpPr>
        <p:spPr>
          <a:xfrm>
            <a:off x="1645920" y="2505456"/>
            <a:ext cx="36576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1920240" y="231343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 incident — trust damage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2606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12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600200" y="2670048"/>
            <a:ext cx="128016" cy="128016"/>
          </a:xfrm>
          <a:prstGeom prst="ellipse">
            <a:avLst/>
          </a:prstGeom>
          <a:solidFill>
            <a:srgbClr val="003A70"/>
          </a:solidFill>
          <a:ln/>
        </p:spPr>
      </p:sp>
      <p:sp>
        <p:nvSpPr>
          <p:cNvPr id="26" name="Shape 24"/>
          <p:cNvSpPr/>
          <p:nvPr/>
        </p:nvSpPr>
        <p:spPr>
          <a:xfrm>
            <a:off x="1645920" y="2798064"/>
            <a:ext cx="36576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1920240" y="260604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 workshop hands-on sessions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28986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600200" y="2962656"/>
            <a:ext cx="128016" cy="128016"/>
          </a:xfrm>
          <a:prstGeom prst="ellipse">
            <a:avLst/>
          </a:prstGeom>
          <a:solidFill>
            <a:srgbClr val="003A70"/>
          </a:solidFill>
          <a:ln/>
        </p:spPr>
      </p:sp>
      <p:sp>
        <p:nvSpPr>
          <p:cNvPr id="30" name="Shape 28"/>
          <p:cNvSpPr/>
          <p:nvPr/>
        </p:nvSpPr>
        <p:spPr>
          <a:xfrm>
            <a:off x="1645920" y="3090672"/>
            <a:ext cx="36576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9"/>
          <p:cNvSpPr/>
          <p:nvPr/>
        </p:nvSpPr>
        <p:spPr>
          <a:xfrm>
            <a:off x="1920240" y="28986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Diya governance session; 3-pillar structure endorsed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31912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600200" y="3255264"/>
            <a:ext cx="128016" cy="128016"/>
          </a:xfrm>
          <a:prstGeom prst="ellipse">
            <a:avLst/>
          </a:prstGeom>
          <a:solidFill>
            <a:srgbClr val="003A70"/>
          </a:solidFill>
          <a:ln/>
        </p:spPr>
      </p:sp>
      <p:sp>
        <p:nvSpPr>
          <p:cNvPr id="34" name="Shape 32"/>
          <p:cNvSpPr/>
          <p:nvPr/>
        </p:nvSpPr>
        <p:spPr>
          <a:xfrm>
            <a:off x="1645920" y="3383280"/>
            <a:ext cx="36576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3"/>
          <p:cNvSpPr/>
          <p:nvPr/>
        </p:nvSpPr>
        <p:spPr>
          <a:xfrm>
            <a:off x="1920240" y="3191256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+ Chris onboarded; Life SLT demo; Bedrock API working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34838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4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600200" y="3547872"/>
            <a:ext cx="128016" cy="128016"/>
          </a:xfrm>
          <a:prstGeom prst="ellipse">
            <a:avLst/>
          </a:prstGeom>
          <a:solidFill>
            <a:srgbClr val="003A70"/>
          </a:solidFill>
          <a:ln/>
        </p:spPr>
      </p:sp>
      <p:sp>
        <p:nvSpPr>
          <p:cNvPr id="38" name="Shape 36"/>
          <p:cNvSpPr/>
          <p:nvPr/>
        </p:nvSpPr>
        <p:spPr>
          <a:xfrm>
            <a:off x="1645920" y="3675888"/>
            <a:ext cx="36576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Text 37"/>
          <p:cNvSpPr/>
          <p:nvPr/>
        </p:nvSpPr>
        <p:spPr>
          <a:xfrm>
            <a:off x="1920240" y="348386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PM app revealed; 2-week release cycle adopted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37764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600200" y="3840480"/>
            <a:ext cx="128016" cy="128016"/>
          </a:xfrm>
          <a:prstGeom prst="ellipse">
            <a:avLst/>
          </a:prstGeom>
          <a:solidFill>
            <a:srgbClr val="003A70"/>
          </a:solidFill>
          <a:ln/>
        </p:spPr>
      </p:sp>
      <p:sp>
        <p:nvSpPr>
          <p:cNvPr id="42" name="Shape 40"/>
          <p:cNvSpPr/>
          <p:nvPr/>
        </p:nvSpPr>
        <p:spPr>
          <a:xfrm>
            <a:off x="1645920" y="3968496"/>
            <a:ext cx="36576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Text 41"/>
          <p:cNvSpPr/>
          <p:nvPr/>
        </p:nvSpPr>
        <p:spPr>
          <a:xfrm>
            <a:off x="1920240" y="377647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 Five breakthrough; cross-OU sessions; Idris Abram onboarded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8640" y="4069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11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600200" y="4133088"/>
            <a:ext cx="128016" cy="128016"/>
          </a:xfrm>
          <a:prstGeom prst="ellipse">
            <a:avLst/>
          </a:prstGeom>
          <a:solidFill>
            <a:srgbClr val="003A70"/>
          </a:solidFill>
          <a:ln/>
        </p:spPr>
      </p:sp>
      <p:sp>
        <p:nvSpPr>
          <p:cNvPr id="46" name="Shape 44"/>
          <p:cNvSpPr/>
          <p:nvPr/>
        </p:nvSpPr>
        <p:spPr>
          <a:xfrm>
            <a:off x="1645920" y="4261104"/>
            <a:ext cx="36576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Text 45"/>
          <p:cNvSpPr/>
          <p:nvPr/>
        </p:nvSpPr>
        <p:spPr>
          <a:xfrm>
            <a:off x="1920240" y="406908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Factory MCP pivot; Salesforce integration designed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8640" y="43616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30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600200" y="4425696"/>
            <a:ext cx="128016" cy="128016"/>
          </a:xfrm>
          <a:prstGeom prst="ellipse">
            <a:avLst/>
          </a:prstGeom>
          <a:solidFill>
            <a:srgbClr val="00A3E0"/>
          </a:solidFill>
          <a:ln/>
        </p:spPr>
      </p:sp>
      <p:sp>
        <p:nvSpPr>
          <p:cNvPr id="50" name="Shape 48"/>
          <p:cNvSpPr/>
          <p:nvPr/>
        </p:nvSpPr>
        <p:spPr>
          <a:xfrm>
            <a:off x="1645920" y="4553712"/>
            <a:ext cx="36576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1" name="Text 49"/>
          <p:cNvSpPr/>
          <p:nvPr/>
        </p:nvSpPr>
        <p:spPr>
          <a:xfrm>
            <a:off x="1920240" y="436168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Gainsight hard launch (upcoming)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48640" y="46542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600200" y="4718304"/>
            <a:ext cx="128016" cy="128016"/>
          </a:xfrm>
          <a:prstGeom prst="ellipse">
            <a:avLst/>
          </a:prstGeom>
          <a:solidFill>
            <a:srgbClr val="00A3E0"/>
          </a:solidFill>
          <a:ln/>
        </p:spPr>
      </p:sp>
      <p:sp>
        <p:nvSpPr>
          <p:cNvPr id="54" name="Text 52"/>
          <p:cNvSpPr/>
          <p:nvPr/>
        </p:nvSpPr>
        <p:spPr>
          <a:xfrm>
            <a:off x="1920240" y="4654296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Exceedance event — Build in Five demo target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Gen AI Programme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Risks &amp; Watchlist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00584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600200" y="11247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personnel concentration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00200" y="1344168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 (strategy), BenVH (infra), Azmain (features) carry the programme. Richard interviewing in NYC. BenVH emotionally depleted. No tested succession plan.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673352"/>
            <a:ext cx="1005840" cy="228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733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00200" y="165506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cost trajectory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00200" y="1874520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at $1,163 in two weeks, on pace for $10K/month. No per-project or per-user cost attribution. Tags not configured.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203704"/>
            <a:ext cx="1005840" cy="228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20370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600200" y="218541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outpacing capacity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00200" y="2404872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Salesforce, Gainsight, cross-OU, Asia-Pac all emerging simultaneously. Every new consumer adds load to a team that hasn't grown.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734056"/>
            <a:ext cx="1005840" cy="228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3405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600200" y="27157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fragility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00200" y="2935224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tested rollback procedure. BenVH is the only deployer. Schema changes have caused production breakage.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264408"/>
            <a:ext cx="1005840" cy="228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2644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600200" y="3246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Post-12-week business case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00200" y="3465576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Diya asked for outcomes and a continuation plan. This has not been addressed. Clock is ticking.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1005840" cy="228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7947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600200" y="3776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Gainsight March 30 launch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00200" y="3995928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date confirmed. Immediate questions about CLARA sync expected. Phase 2 planning needs to accelerate.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325112"/>
            <a:ext cx="1005840" cy="228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3251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600200" y="43068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debt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600200" y="4526280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 has zero formal documentation. If Azmain is unavailable, nobody can maintain it independently.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Gen AI Programme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Programme Debrief for Diana — March 2026</dc:title>
  <dc:subject>PptxGenJS Presentation</dc:subject>
  <dc:creator>Customer Success Gen AI Programme</dc:creator>
  <cp:lastModifiedBy>Customer Success Gen AI Programme</cp:lastModifiedBy>
  <cp:revision>1</cp:revision>
  <dcterms:created xsi:type="dcterms:W3CDTF">2026-03-12T05:28:31Z</dcterms:created>
  <dcterms:modified xsi:type="dcterms:W3CDTF">2026-03-12T05:28:31Z</dcterms:modified>
</cp:coreProperties>
</file>